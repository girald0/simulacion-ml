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Quattrocento Sans" charset="-122" pitchFamily="3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2iuwoa3l634a/mnt/agents/output/ml-votacion/images/5_Medellin_Landscape_City_View_Stock.png">    </p:cNvPr>
          <p:cNvPicPr>
            <a:picLocks noChangeAspect="1"/>
          </p:cNvPicPr>
          <p:nvPr/>
        </p:nvPicPr>
        <p:blipFill>
          <a:blip r:embed="rId1"/>
          <a:srcRect l="0" r="0" t="7771" b="777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1E">
                  <a:alpha val="94000"/>
                </a:srgbClr>
              </a:gs>
              <a:gs pos="50000">
                <a:srgbClr val="1A1A1E">
                  <a:alpha val="69000"/>
                </a:srgbClr>
              </a:gs>
              <a:gs pos="100000">
                <a:srgbClr val="1A1A1E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5400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794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600" b="1" spc="3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SISTEMA DE VOTACIÓN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600" b="1" spc="3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EDUCATIVO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016000" y="4445000"/>
            <a:ext cx="914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400" kern="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· PRESUPUESTO PARTICIPATIVO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5130800"/>
            <a:ext cx="5080000" cy="127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334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Mateo Giraldo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Ainoa Bolea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Santiago Gonzalez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Juan Jose Velez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· PROBLEMA Y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· PREPARACIÓN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· MODELOS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· RESULTADOS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· CONCLUSIONES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Problema y Dataset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74800"/>
            <a:ext cx="6858000" cy="16256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676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PREGUNTA DE NEGOCIO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19812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decisiones puede tomar la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Secretaría de Participación Ciudadana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después de una jornada de votación con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~7.500 votos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comunas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sin tener que revisar todo manualmente?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352800"/>
            <a:ext cx="685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(OPCIÓN A — VOTACIÓN)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733800"/>
            <a:ext cx="685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tablas sintéticas generadas por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generate_data.py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relaciones inyectadas a propósito para que los modelos encuentren patrones realistas.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546600"/>
            <a:ext cx="6858000" cy="11430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6736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Relaciones inyectadas: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latencia ↔ estado · canal ↔ perfil territorial · edad ↔ validación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1574800"/>
            <a:ext cx="7493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5000" y="1879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177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ciudadanos.csv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0" y="213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8.000 filas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5800" y="2514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edad, género, comuna, validación, voto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01000" y="3276600"/>
            <a:ext cx="7493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0400" y="3581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76200"/>
                </a:moveTo>
                <a:cubicBezTo>
                  <a:pt x="76200" y="48181"/>
                  <a:pt x="98981" y="25400"/>
                  <a:pt x="127000" y="25400"/>
                </a:cubicBezTo>
                <a:lnTo>
                  <a:pt x="330200" y="25400"/>
                </a:lnTo>
                <a:cubicBezTo>
                  <a:pt x="358219" y="25400"/>
                  <a:pt x="381000" y="48181"/>
                  <a:pt x="381000" y="76200"/>
                </a:cubicBezTo>
                <a:lnTo>
                  <a:pt x="381000" y="254000"/>
                </a:lnTo>
                <a:cubicBezTo>
                  <a:pt x="381000" y="282019"/>
                  <a:pt x="358219" y="304800"/>
                  <a:pt x="330200" y="304800"/>
                </a:cubicBezTo>
                <a:lnTo>
                  <a:pt x="127000" y="304800"/>
                </a:lnTo>
                <a:cubicBezTo>
                  <a:pt x="98981" y="304800"/>
                  <a:pt x="76200" y="282019"/>
                  <a:pt x="76200" y="254000"/>
                </a:cubicBezTo>
                <a:lnTo>
                  <a:pt x="76200" y="76200"/>
                </a:lnTo>
                <a:close/>
                <a:moveTo>
                  <a:pt x="289481" y="91757"/>
                </a:moveTo>
                <a:cubicBezTo>
                  <a:pt x="280591" y="86201"/>
                  <a:pt x="268843" y="88900"/>
                  <a:pt x="263208" y="97790"/>
                </a:cubicBezTo>
                <a:lnTo>
                  <a:pt x="214471" y="175816"/>
                </a:lnTo>
                <a:lnTo>
                  <a:pt x="193040" y="147241"/>
                </a:lnTo>
                <a:cubicBezTo>
                  <a:pt x="186690" y="138827"/>
                  <a:pt x="174784" y="137081"/>
                  <a:pt x="166370" y="143431"/>
                </a:cubicBezTo>
                <a:cubicBezTo>
                  <a:pt x="157956" y="149781"/>
                  <a:pt x="156210" y="161687"/>
                  <a:pt x="162560" y="170101"/>
                </a:cubicBezTo>
                <a:lnTo>
                  <a:pt x="200660" y="220901"/>
                </a:lnTo>
                <a:cubicBezTo>
                  <a:pt x="204391" y="225901"/>
                  <a:pt x="210423" y="228759"/>
                  <a:pt x="216694" y="228521"/>
                </a:cubicBezTo>
                <a:cubicBezTo>
                  <a:pt x="222964" y="228283"/>
                  <a:pt x="228679" y="224949"/>
                  <a:pt x="232013" y="219551"/>
                </a:cubicBezTo>
                <a:lnTo>
                  <a:pt x="295513" y="117951"/>
                </a:lnTo>
                <a:cubicBezTo>
                  <a:pt x="301069" y="109061"/>
                  <a:pt x="298371" y="97314"/>
                  <a:pt x="289481" y="91678"/>
                </a:cubicBezTo>
                <a:close/>
                <a:moveTo>
                  <a:pt x="38100" y="247650"/>
                </a:moveTo>
                <a:lnTo>
                  <a:pt x="38100" y="330200"/>
                </a:lnTo>
                <a:cubicBezTo>
                  <a:pt x="38100" y="337185"/>
                  <a:pt x="43815" y="342900"/>
                  <a:pt x="50800" y="342900"/>
                </a:cubicBezTo>
                <a:lnTo>
                  <a:pt x="406400" y="342900"/>
                </a:lnTo>
                <a:cubicBezTo>
                  <a:pt x="413385" y="342900"/>
                  <a:pt x="419100" y="337185"/>
                  <a:pt x="419100" y="330200"/>
                </a:cubicBezTo>
                <a:lnTo>
                  <a:pt x="419100" y="247650"/>
                </a:lnTo>
                <a:cubicBezTo>
                  <a:pt x="419100" y="237093"/>
                  <a:pt x="427593" y="228600"/>
                  <a:pt x="438150" y="228600"/>
                </a:cubicBezTo>
                <a:cubicBezTo>
                  <a:pt x="448707" y="228600"/>
                  <a:pt x="457200" y="237093"/>
                  <a:pt x="457200" y="247650"/>
                </a:cubicBezTo>
                <a:lnTo>
                  <a:pt x="457200" y="330200"/>
                </a:lnTo>
                <a:cubicBezTo>
                  <a:pt x="457200" y="358219"/>
                  <a:pt x="434419" y="381000"/>
                  <a:pt x="4064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247650"/>
                </a:lnTo>
                <a:cubicBezTo>
                  <a:pt x="0" y="237093"/>
                  <a:pt x="8493" y="228600"/>
                  <a:pt x="19050" y="228600"/>
                </a:cubicBezTo>
                <a:cubicBezTo>
                  <a:pt x="29607" y="228600"/>
                  <a:pt x="38100" y="237093"/>
                  <a:pt x="38100" y="24765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3479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votos.csv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0000" y="3835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7.500 filas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5800" y="42164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canal, dispositivo, latencia, estado, hora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01000" y="4978400"/>
            <a:ext cx="7493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6600" y="52832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122396" y="234633"/>
                </a:moveTo>
                <a:cubicBezTo>
                  <a:pt x="129223" y="226616"/>
                  <a:pt x="128349" y="214630"/>
                  <a:pt x="120333" y="207804"/>
                </a:cubicBezTo>
                <a:cubicBezTo>
                  <a:pt x="112316" y="200978"/>
                  <a:pt x="100330" y="201851"/>
                  <a:pt x="93504" y="209868"/>
                </a:cubicBezTo>
                <a:lnTo>
                  <a:pt x="55404" y="254318"/>
                </a:lnTo>
                <a:cubicBezTo>
                  <a:pt x="49292" y="261461"/>
                  <a:pt x="49292" y="271939"/>
                  <a:pt x="55404" y="279083"/>
                </a:cubicBezTo>
                <a:lnTo>
                  <a:pt x="93504" y="323533"/>
                </a:lnTo>
                <a:cubicBezTo>
                  <a:pt x="100330" y="331549"/>
                  <a:pt x="112395" y="332423"/>
                  <a:pt x="120333" y="325596"/>
                </a:cubicBezTo>
                <a:cubicBezTo>
                  <a:pt x="128270" y="318770"/>
                  <a:pt x="129223" y="306705"/>
                  <a:pt x="122396" y="298768"/>
                </a:cubicBezTo>
                <a:lnTo>
                  <a:pt x="94932" y="266700"/>
                </a:lnTo>
                <a:lnTo>
                  <a:pt x="122396" y="234633"/>
                </a:lnTo>
                <a:close/>
                <a:moveTo>
                  <a:pt x="211296" y="209868"/>
                </a:moveTo>
                <a:cubicBezTo>
                  <a:pt x="204470" y="201851"/>
                  <a:pt x="192405" y="200978"/>
                  <a:pt x="184467" y="207804"/>
                </a:cubicBezTo>
                <a:cubicBezTo>
                  <a:pt x="176530" y="214630"/>
                  <a:pt x="175577" y="226695"/>
                  <a:pt x="182404" y="234633"/>
                </a:cubicBezTo>
                <a:lnTo>
                  <a:pt x="209868" y="266700"/>
                </a:lnTo>
                <a:lnTo>
                  <a:pt x="182404" y="298768"/>
                </a:lnTo>
                <a:cubicBezTo>
                  <a:pt x="175577" y="306784"/>
                  <a:pt x="176451" y="318770"/>
                  <a:pt x="184467" y="325596"/>
                </a:cubicBezTo>
                <a:cubicBezTo>
                  <a:pt x="192484" y="332423"/>
                  <a:pt x="204470" y="331549"/>
                  <a:pt x="211296" y="323532"/>
                </a:cubicBezTo>
                <a:lnTo>
                  <a:pt x="249396" y="279083"/>
                </a:lnTo>
                <a:cubicBezTo>
                  <a:pt x="255508" y="271939"/>
                  <a:pt x="255508" y="261461"/>
                  <a:pt x="249396" y="254317"/>
                </a:cubicBezTo>
                <a:lnTo>
                  <a:pt x="211296" y="209868"/>
                </a:ln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0" name="Text 28"/>
          <p:cNvSpPr/>
          <p:nvPr/>
        </p:nvSpPr>
        <p:spPr>
          <a:xfrm>
            <a:off x="8890000" y="5181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logs.csv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90000" y="5537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6.000 filas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05800" y="5918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servicio, nivel, evento, duración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01000" y="6680200"/>
            <a:ext cx="7493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55000" y="698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57200" y="38100"/>
                </a:moveTo>
                <a:cubicBezTo>
                  <a:pt x="457200" y="29289"/>
                  <a:pt x="452676" y="21114"/>
                  <a:pt x="445135" y="16510"/>
                </a:cubicBezTo>
                <a:cubicBezTo>
                  <a:pt x="437594" y="11906"/>
                  <a:pt x="428307" y="11430"/>
                  <a:pt x="420449" y="15399"/>
                </a:cubicBezTo>
                <a:lnTo>
                  <a:pt x="328216" y="61516"/>
                </a:lnTo>
                <a:lnTo>
                  <a:pt x="185817" y="13970"/>
                </a:lnTo>
                <a:cubicBezTo>
                  <a:pt x="179388" y="11827"/>
                  <a:pt x="172482" y="12303"/>
                  <a:pt x="166449" y="15319"/>
                </a:cubicBezTo>
                <a:lnTo>
                  <a:pt x="64849" y="66119"/>
                </a:lnTo>
                <a:cubicBezTo>
                  <a:pt x="56198" y="70485"/>
                  <a:pt x="50800" y="79296"/>
                  <a:pt x="50800" y="88900"/>
                </a:cubicBezTo>
                <a:lnTo>
                  <a:pt x="50800" y="368300"/>
                </a:lnTo>
                <a:cubicBezTo>
                  <a:pt x="50800" y="377111"/>
                  <a:pt x="55324" y="385286"/>
                  <a:pt x="62865" y="389890"/>
                </a:cubicBezTo>
                <a:cubicBezTo>
                  <a:pt x="70406" y="394494"/>
                  <a:pt x="79693" y="394970"/>
                  <a:pt x="87551" y="391001"/>
                </a:cubicBezTo>
                <a:lnTo>
                  <a:pt x="179705" y="344884"/>
                </a:lnTo>
                <a:lnTo>
                  <a:pt x="317262" y="390763"/>
                </a:lnTo>
                <a:cubicBezTo>
                  <a:pt x="313849" y="385683"/>
                  <a:pt x="310515" y="380365"/>
                  <a:pt x="307261" y="374968"/>
                </a:cubicBezTo>
                <a:cubicBezTo>
                  <a:pt x="298529" y="360442"/>
                  <a:pt x="289878" y="343773"/>
                  <a:pt x="283448" y="325914"/>
                </a:cubicBezTo>
                <a:lnTo>
                  <a:pt x="203121" y="299164"/>
                </a:lnTo>
                <a:lnTo>
                  <a:pt x="203121" y="73342"/>
                </a:lnTo>
                <a:lnTo>
                  <a:pt x="304721" y="107236"/>
                </a:lnTo>
                <a:lnTo>
                  <a:pt x="304721" y="186055"/>
                </a:lnTo>
                <a:cubicBezTo>
                  <a:pt x="329327" y="157639"/>
                  <a:pt x="365839" y="139700"/>
                  <a:pt x="406321" y="139700"/>
                </a:cubicBezTo>
                <a:cubicBezTo>
                  <a:pt x="424259" y="139700"/>
                  <a:pt x="441404" y="143192"/>
                  <a:pt x="457121" y="149622"/>
                </a:cubicBezTo>
                <a:lnTo>
                  <a:pt x="457200" y="38100"/>
                </a:lnTo>
                <a:close/>
                <a:moveTo>
                  <a:pt x="406400" y="177800"/>
                </a:moveTo>
                <a:cubicBezTo>
                  <a:pt x="353774" y="177800"/>
                  <a:pt x="311150" y="219710"/>
                  <a:pt x="311150" y="271383"/>
                </a:cubicBezTo>
                <a:cubicBezTo>
                  <a:pt x="311150" y="326072"/>
                  <a:pt x="362029" y="390763"/>
                  <a:pt x="389414" y="421640"/>
                </a:cubicBezTo>
                <a:cubicBezTo>
                  <a:pt x="398621" y="431959"/>
                  <a:pt x="414258" y="431959"/>
                  <a:pt x="423466" y="421640"/>
                </a:cubicBezTo>
                <a:cubicBezTo>
                  <a:pt x="450850" y="390763"/>
                  <a:pt x="501729" y="326073"/>
                  <a:pt x="501729" y="271383"/>
                </a:cubicBezTo>
                <a:cubicBezTo>
                  <a:pt x="501729" y="219710"/>
                  <a:pt x="459105" y="177800"/>
                  <a:pt x="406479" y="177800"/>
                </a:cubicBezTo>
                <a:close/>
                <a:moveTo>
                  <a:pt x="374650" y="273050"/>
                </a:moveTo>
                <a:cubicBezTo>
                  <a:pt x="374650" y="255527"/>
                  <a:pt x="388877" y="241300"/>
                  <a:pt x="406400" y="241300"/>
                </a:cubicBezTo>
                <a:cubicBezTo>
                  <a:pt x="423923" y="241300"/>
                  <a:pt x="438150" y="255527"/>
                  <a:pt x="438150" y="273050"/>
                </a:cubicBezTo>
                <a:cubicBezTo>
                  <a:pt x="438150" y="290573"/>
                  <a:pt x="423923" y="304800"/>
                  <a:pt x="406400" y="304800"/>
                </a:cubicBezTo>
                <a:cubicBezTo>
                  <a:pt x="388877" y="304800"/>
                  <a:pt x="374650" y="290573"/>
                  <a:pt x="374650" y="27305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8890000" y="688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comunas_agregado.csv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0000" y="723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filas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5800" y="7620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territoriales por comuna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7376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· PROBLEMA Y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· PREPARACIÓN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· MODELOS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· RESULTADOS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· CONCLUSIONES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Preparación de Datos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63500" cy="1270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0066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Sólo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género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(~0.6%). Imputado a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"No reporta"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0" y="1524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524000"/>
            <a:ext cx="635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7" name="Text 15"/>
          <p:cNvSpPr/>
          <p:nvPr/>
        </p:nvSpPr>
        <p:spPr>
          <a:xfrm>
            <a:off x="5969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0" y="2006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retransmisiones en votos. Eliminadas por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id_voto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1524000"/>
            <a:ext cx="482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8000" y="1524000"/>
            <a:ext cx="635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1651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Tipos y Derivados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20066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timestamp_voto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datetime; derivamos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hora_pico, latencia_cat.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33782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3378200"/>
            <a:ext cx="635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35052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Etiqueta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38608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valido = (estado == "VALIDO")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el modelo supervisado.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33782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3378200"/>
            <a:ext cx="635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9" name="Text 27"/>
          <p:cNvSpPr/>
          <p:nvPr/>
        </p:nvSpPr>
        <p:spPr>
          <a:xfrm>
            <a:off x="5969000" y="35052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9000" y="38608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K-Means, DBSCAN y regresión logística sobre PCA.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68000" y="3378200"/>
            <a:ext cx="482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68000" y="3378200"/>
            <a:ext cx="635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3" name="Text 31"/>
          <p:cNvSpPr/>
          <p:nvPr/>
        </p:nvSpPr>
        <p:spPr>
          <a:xfrm>
            <a:off x="10922000" y="35052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y Validación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22000" y="38608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75/25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estratificado para Random Forest, con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CV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paralelo.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5334000"/>
            <a:ext cx="14732000" cy="2921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000" y="5486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HALLAZGOS DEL EDA (6 FIGURAS)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6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38" name="Text 36"/>
          <p:cNvSpPr/>
          <p:nvPr/>
        </p:nvSpPr>
        <p:spPr>
          <a:xfrm>
            <a:off x="1524000" y="59182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Latencia depende del canal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Kioscos y puestos físicos tienen latencias mayores.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8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33337"/>
                </a:moveTo>
                <a:cubicBezTo>
                  <a:pt x="355600" y="25628"/>
                  <a:pt x="351641" y="18475"/>
                  <a:pt x="345043" y="14446"/>
                </a:cubicBezTo>
                <a:cubicBezTo>
                  <a:pt x="338445" y="10418"/>
                  <a:pt x="330319" y="10001"/>
                  <a:pt x="323443" y="13474"/>
                </a:cubicBezTo>
                <a:lnTo>
                  <a:pt x="242739" y="53826"/>
                </a:lnTo>
                <a:lnTo>
                  <a:pt x="118140" y="12224"/>
                </a:lnTo>
                <a:cubicBezTo>
                  <a:pt x="112514" y="10349"/>
                  <a:pt x="106472" y="10765"/>
                  <a:pt x="101193" y="13404"/>
                </a:cubicBezTo>
                <a:lnTo>
                  <a:pt x="12293" y="57854"/>
                </a:lnTo>
                <a:cubicBezTo>
                  <a:pt x="4723" y="61674"/>
                  <a:pt x="0" y="69384"/>
                  <a:pt x="0" y="77788"/>
                </a:cubicBezTo>
                <a:lnTo>
                  <a:pt x="0" y="322263"/>
                </a:lnTo>
                <a:cubicBezTo>
                  <a:pt x="0" y="329972"/>
                  <a:pt x="3959" y="337125"/>
                  <a:pt x="10557" y="341154"/>
                </a:cubicBezTo>
                <a:cubicBezTo>
                  <a:pt x="17155" y="345182"/>
                  <a:pt x="25281" y="345599"/>
                  <a:pt x="32157" y="342126"/>
                </a:cubicBezTo>
                <a:lnTo>
                  <a:pt x="112792" y="301774"/>
                </a:lnTo>
                <a:lnTo>
                  <a:pt x="237391" y="343307"/>
                </a:lnTo>
                <a:cubicBezTo>
                  <a:pt x="243016" y="345182"/>
                  <a:pt x="249059" y="344765"/>
                  <a:pt x="254337" y="342126"/>
                </a:cubicBezTo>
                <a:lnTo>
                  <a:pt x="343237" y="297676"/>
                </a:lnTo>
                <a:cubicBezTo>
                  <a:pt x="350738" y="293926"/>
                  <a:pt x="355531" y="286216"/>
                  <a:pt x="355531" y="277812"/>
                </a:cubicBezTo>
                <a:lnTo>
                  <a:pt x="355531" y="33337"/>
                </a:lnTo>
                <a:close/>
                <a:moveTo>
                  <a:pt x="133350" y="261769"/>
                </a:moveTo>
                <a:lnTo>
                  <a:pt x="133350" y="64175"/>
                </a:lnTo>
                <a:lnTo>
                  <a:pt x="222250" y="93831"/>
                </a:lnTo>
                <a:lnTo>
                  <a:pt x="222250" y="291425"/>
                </a:lnTo>
                <a:lnTo>
                  <a:pt x="133350" y="261769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40" name="Text 38"/>
          <p:cNvSpPr/>
          <p:nvPr/>
        </p:nvSpPr>
        <p:spPr>
          <a:xfrm>
            <a:off x="8636000" y="59182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Participación depende del territorio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Urbanas vs. rurales muestran patrones distintos.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6000" y="708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42" name="Text 40"/>
          <p:cNvSpPr/>
          <p:nvPr/>
        </p:nvSpPr>
        <p:spPr>
          <a:xfrm>
            <a:off x="1524000" y="7035800"/>
            <a:ext cx="609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Errores concentrados en servicios críticos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servicios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validador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concentran los errores operativos.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16000" y="7874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Estos tres hallazgos guiaron la selección de variables y la elección de algoritmos para el modelado.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87376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· PROBLEMA Y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· PREPARACIÓN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· MODELOS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· RESULTADOS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· CONCLUSIONES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Modelos Implementados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74800"/>
          <a:ext cx="14732000" cy="4572000"/>
        </p:xfrm>
        <a:graphic>
          <a:graphicData uri="http://schemas.openxmlformats.org/drawingml/2006/table">
            <a:tbl>
              <a:tblPr/>
              <a:tblGrid>
                <a:gridCol w="883920"/>
                <a:gridCol w="4124960"/>
                <a:gridCol w="3241040"/>
                <a:gridCol w="6482080"/>
              </a:tblGrid>
              <a:tr h="63854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Grupo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Objetivo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9833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K-Means (k=3)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supervisado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Agrupar las 21 comunas en perfiles urbano / mixto / rural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3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DBSCAN (eps=0.6)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supervisado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Detectar votos atípicos por latencia y estado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  <a:tr h="9833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 (350 árboles)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Supervisado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Predecir si un voto será válido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3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PCA + Reg. Logística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Complementario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Reducir dimensión y servir de baseline lineal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6477000"/>
            <a:ext cx="14732000" cy="17780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6629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Cobertura de la rúbrica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70358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Cubre los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tres grupos exigidos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la guía del taller: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 algoritmos no supervisados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(K-Means, DBSCAN),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algoritmo supervisado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(Random Forest), y agrega un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complementario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(PCA + Regresión Logística) para poder comparar rendimientos.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7376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· PROBLEMA Y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· PREPARACIÓN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· MODELOS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· RESULTADOS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· CONCLUSIONES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Resultados Comparativos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98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19304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2032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(k=3)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438400"/>
            <a:ext cx="660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clusters claros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silhouette ≈ 0.29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cluster rural (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corregimientos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se separa del resto en el plano PCA.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7592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38608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 (eps=0.6)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267200"/>
            <a:ext cx="660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5-9% de votos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marcados como atípicos (-1)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Latencia media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&gt;2.500 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proporción de INVÁLIDO varias veces mayor.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1498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SUPERVISADO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30400"/>
          <a:ext cx="7112000" cy="1651000"/>
        </p:xfrm>
        <a:graphic>
          <a:graphicData uri="http://schemas.openxmlformats.org/drawingml/2006/table">
            <a:tbl>
              <a:tblPr/>
              <a:tblGrid>
                <a:gridCol w="3200400"/>
                <a:gridCol w="1955800"/>
                <a:gridCol w="19558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F1-macro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0.877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0.528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Logística + PCA(5)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0.482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382000" y="3759200"/>
            <a:ext cx="7112000" cy="1651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1" name="Text 18"/>
          <p:cNvSpPr/>
          <p:nvPr/>
        </p:nvSpPr>
        <p:spPr>
          <a:xfrm>
            <a:off x="8636000" y="3860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MÁS IMPORTANTE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36000" y="4191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latencia_ms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36000" y="47752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Seguida de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canal_kiosko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Confirma EDA y DBSCAN: la latencia es la palanca a mover.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5715000"/>
            <a:ext cx="14732000" cy="25400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25" name="Text 22"/>
          <p:cNvSpPr/>
          <p:nvPr/>
        </p:nvSpPr>
        <p:spPr>
          <a:xfrm>
            <a:off x="1016000" y="5867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Síntesis de hallazgos cruzados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" y="637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0"/>
                </a:moveTo>
                <a:cubicBezTo>
                  <a:pt x="88999" y="0"/>
                  <a:pt x="76200" y="12799"/>
                  <a:pt x="76200" y="28575"/>
                </a:cubicBezTo>
                <a:lnTo>
                  <a:pt x="76200" y="152400"/>
                </a:lnTo>
                <a:cubicBezTo>
                  <a:pt x="76200" y="168176"/>
                  <a:pt x="88999" y="180975"/>
                  <a:pt x="104775" y="180975"/>
                </a:cubicBezTo>
                <a:lnTo>
                  <a:pt x="142875" y="180975"/>
                </a:lnTo>
                <a:cubicBezTo>
                  <a:pt x="158651" y="180975"/>
                  <a:pt x="171450" y="168176"/>
                  <a:pt x="171450" y="152400"/>
                </a:cubicBezTo>
                <a:lnTo>
                  <a:pt x="171450" y="114300"/>
                </a:lnTo>
                <a:lnTo>
                  <a:pt x="190500" y="114300"/>
                </a:lnTo>
                <a:cubicBezTo>
                  <a:pt x="232589" y="114300"/>
                  <a:pt x="266700" y="148411"/>
                  <a:pt x="266700" y="190500"/>
                </a:cubicBezTo>
                <a:cubicBezTo>
                  <a:pt x="266700" y="232589"/>
                  <a:pt x="232589" y="266700"/>
                  <a:pt x="190500" y="266700"/>
                </a:cubicBezTo>
                <a:lnTo>
                  <a:pt x="19050" y="266700"/>
                </a:lnTo>
                <a:cubicBezTo>
                  <a:pt x="8513" y="266700"/>
                  <a:pt x="0" y="275213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85750" y="304800"/>
                </a:lnTo>
                <a:cubicBezTo>
                  <a:pt x="296287" y="304800"/>
                  <a:pt x="304800" y="296287"/>
                  <a:pt x="304800" y="285750"/>
                </a:cubicBezTo>
                <a:cubicBezTo>
                  <a:pt x="304800" y="275213"/>
                  <a:pt x="296287" y="266700"/>
                  <a:pt x="285750" y="266700"/>
                </a:cubicBezTo>
                <a:lnTo>
                  <a:pt x="275689" y="266700"/>
                </a:lnTo>
                <a:cubicBezTo>
                  <a:pt x="293787" y="246459"/>
                  <a:pt x="304800" y="219789"/>
                  <a:pt x="304800" y="190500"/>
                </a:cubicBezTo>
                <a:cubicBezTo>
                  <a:pt x="304800" y="127397"/>
                  <a:pt x="253603" y="76200"/>
                  <a:pt x="190500" y="76200"/>
                </a:cubicBezTo>
                <a:lnTo>
                  <a:pt x="171450" y="76200"/>
                </a:lnTo>
                <a:lnTo>
                  <a:pt x="171450" y="28575"/>
                </a:lnTo>
                <a:cubicBezTo>
                  <a:pt x="171450" y="12799"/>
                  <a:pt x="158651" y="0"/>
                  <a:pt x="142875" y="0"/>
                </a:cubicBezTo>
                <a:lnTo>
                  <a:pt x="104775" y="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76212" y="238125"/>
                </a:lnTo>
                <a:cubicBezTo>
                  <a:pt x="184130" y="238125"/>
                  <a:pt x="190500" y="231755"/>
                  <a:pt x="190500" y="223838"/>
                </a:cubicBezTo>
                <a:cubicBezTo>
                  <a:pt x="190500" y="215920"/>
                  <a:pt x="184130" y="209550"/>
                  <a:pt x="176212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7" name="Text 24"/>
          <p:cNvSpPr/>
          <p:nvPr/>
        </p:nvSpPr>
        <p:spPr>
          <a:xfrm>
            <a:off x="1473200" y="6324600"/>
            <a:ext cx="381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confirma que el eje territorial es real y separable.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42000" y="637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61912" y="128588"/>
                </a:moveTo>
                <a:lnTo>
                  <a:pt x="61912" y="166688"/>
                </a:lnTo>
                <a:cubicBezTo>
                  <a:pt x="61912" y="174605"/>
                  <a:pt x="68282" y="180975"/>
                  <a:pt x="76200" y="180975"/>
                </a:cubicBezTo>
                <a:cubicBezTo>
                  <a:pt x="84118" y="180975"/>
                  <a:pt x="90488" y="174605"/>
                  <a:pt x="90488" y="166688"/>
                </a:cubicBezTo>
                <a:lnTo>
                  <a:pt x="90488" y="128588"/>
                </a:lnTo>
                <a:cubicBezTo>
                  <a:pt x="90488" y="120670"/>
                  <a:pt x="84118" y="114300"/>
                  <a:pt x="76200" y="114300"/>
                </a:cubicBezTo>
                <a:cubicBezTo>
                  <a:pt x="68282" y="114300"/>
                  <a:pt x="61912" y="120670"/>
                  <a:pt x="61912" y="128588"/>
                </a:cubicBezTo>
                <a:close/>
                <a:moveTo>
                  <a:pt x="109537" y="71438"/>
                </a:move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71438"/>
                </a:lnTo>
                <a:cubicBezTo>
                  <a:pt x="138113" y="63520"/>
                  <a:pt x="131743" y="57150"/>
                  <a:pt x="123825" y="57150"/>
                </a:cubicBezTo>
                <a:cubicBezTo>
                  <a:pt x="115907" y="57150"/>
                  <a:pt x="109537" y="63520"/>
                  <a:pt x="109537" y="71438"/>
                </a:cubicBezTo>
                <a:close/>
                <a:moveTo>
                  <a:pt x="157163" y="109537"/>
                </a:moveTo>
                <a:lnTo>
                  <a:pt x="157163" y="166688"/>
                </a:lnTo>
                <a:cubicBezTo>
                  <a:pt x="157163" y="174605"/>
                  <a:pt x="163532" y="180975"/>
                  <a:pt x="171450" y="180975"/>
                </a:cubicBezTo>
                <a:cubicBezTo>
                  <a:pt x="179368" y="180975"/>
                  <a:pt x="185738" y="174605"/>
                  <a:pt x="185738" y="166688"/>
                </a:cubicBezTo>
                <a:lnTo>
                  <a:pt x="185738" y="109537"/>
                </a:lnTo>
                <a:cubicBezTo>
                  <a:pt x="185738" y="101620"/>
                  <a:pt x="179368" y="95250"/>
                  <a:pt x="171450" y="95250"/>
                </a:cubicBezTo>
                <a:cubicBezTo>
                  <a:pt x="163532" y="95250"/>
                  <a:pt x="157163" y="101620"/>
                  <a:pt x="157163" y="109537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29" name="Text 26"/>
          <p:cNvSpPr/>
          <p:nvPr/>
        </p:nvSpPr>
        <p:spPr>
          <a:xfrm>
            <a:off x="6299200" y="6324600"/>
            <a:ext cx="381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 el subconjunto de votos de alto riesgo por latencia.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668000" y="637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31" name="Text 28"/>
          <p:cNvSpPr/>
          <p:nvPr/>
        </p:nvSpPr>
        <p:spPr>
          <a:xfrm>
            <a:off x="11125200" y="6324600"/>
            <a:ext cx="406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cuantifica el poder predictivo de la latencia con ~88% de accuracy.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6000" y="7493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tres modelos convergen en la misma conclusión: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latencia es el factor crítico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determina la validez de un voto y la eficiencia del sistema.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87376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· PROBLEMA Y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12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· PREPARACIÓN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54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· MODELOS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99600" y="76200"/>
            <a:ext cx="299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· RESULTADOS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623800" y="76200"/>
            <a:ext cx="3505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· CONCLUSIONES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4699000" cy="228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625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133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latencia es la señal de riesgo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5146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Primera importancia en Random Forest, separador clave en DBSCAN y correlación negativa con validación a nivel comuna.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0" y="1524000"/>
            <a:ext cx="4699000" cy="228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1625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2133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 territorial real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0" y="25146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corregimientos rurales tienen menor validación, mayor latencia y forman un cluster propio en K-Means.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1524000"/>
            <a:ext cx="4826000" cy="228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1625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2133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Errores operativos concentrados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2514600"/>
            <a:ext cx="431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servicios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validador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concentran los errores operativos en logs del sistema.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06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ACCIONES RECOMENDADAS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521200"/>
            <a:ext cx="50800" cy="7112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5" name="Text 23"/>
          <p:cNvSpPr/>
          <p:nvPr/>
        </p:nvSpPr>
        <p:spPr>
          <a:xfrm>
            <a:off x="965200" y="45212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subconjunto que marcó DBSCAN antes de publicar resultados oficiales.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359400"/>
            <a:ext cx="50800" cy="7112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5200" y="53594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Reforzar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hardware y conectividad en kioscos y puestos físicos de votación.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197600"/>
            <a:ext cx="50800" cy="7112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9" name="Text 27"/>
          <p:cNvSpPr/>
          <p:nvPr/>
        </p:nvSpPr>
        <p:spPr>
          <a:xfrm>
            <a:off x="965200" y="61976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campañas de validación específicas para corregimientos rurales (cluster 0).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0" y="406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MEJORAS TÉCNICAS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4470400"/>
            <a:ext cx="7112000" cy="24384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32" name="Text 30"/>
          <p:cNvSpPr/>
          <p:nvPr/>
        </p:nvSpPr>
        <p:spPr>
          <a:xfrm>
            <a:off x="8636000" y="46228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Reemplazar RF por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/ LightGBM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RandomizedSearchCV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Separar el modelo de REVISIÓN del de INVÁLIDO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Añadir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model card para producción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72390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34" name="Text 32"/>
          <p:cNvSpPr/>
          <p:nvPr/>
        </p:nvSpPr>
        <p:spPr>
          <a:xfrm>
            <a:off x="1270000" y="74676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objetivo no era demostrar que un modelo "corre", sino mostrar cómo los datos se convierten en decisiones usando Machine Learning.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737600"/>
            <a:ext cx="14732000" cy="12700"/>
          </a:xfrm>
          <a:prstGeom prst="rect">
            <a:avLst/>
          </a:prstGeom>
          <a:solidFill>
            <a:srgbClr val="E8E5D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Votación Educativo · Machine Learning</dc:title>
  <dc:subject>Sistema de Votación Educativo · Machine Learning</dc:subject>
  <dc:creator>Kimi</dc:creator>
  <cp:lastModifiedBy>Kimi</cp:lastModifiedBy>
  <cp:revision>1</cp:revision>
  <dcterms:created xsi:type="dcterms:W3CDTF">2026-05-24T20:06:44Z</dcterms:created>
  <dcterms:modified xsi:type="dcterms:W3CDTF">2026-05-24T20:06:44Z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{"Label":"Sistema de Votación Educativo · Machine Learning","ContentProducer":"001191110108MACG2KBH8F10000","ProduceID":"19e5ae2b-7d42-8787-8000-0000a35c9654","ReservedCode1":"","ContentPropagator":"001191110108MACG2KBH8F20000","PropagateID":"19e5ae2b-7d42-8787-8000-0000a35c9654","ReservedCode2":""}</vt:lpwstr>
  </property>
</Properties>
</file>